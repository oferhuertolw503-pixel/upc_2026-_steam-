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377440"/>
            <a:ext cx="73152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79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Steam 游戏市场数据分析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BDC3C7"/>
                </a:solidFill>
                <a:latin typeface="Arial"/>
              </a:defRPr>
            </a:pPr>
            <a:r>
              <a:t>基于 Steam Video Games 2024 数据集的系统分析与洞察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0">
                <a:solidFill>
                  <a:srgbClr val="7F8C8D"/>
                </a:solidFill>
                <a:latin typeface="Arial"/>
              </a:defRPr>
            </a:pPr>
            <a:r>
              <a:t>数据思维与人工智能 · 课程大作业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0">
                <a:solidFill>
                  <a:srgbClr val="7F8C8D"/>
                </a:solidFill>
                <a:latin typeface="Arial"/>
              </a:defRPr>
            </a:pPr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汇报大纲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0">
                <a:solidFill>
                  <a:srgbClr val="BDC3C7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1508760"/>
            <a:ext cx="411480" cy="411480"/>
          </a:xfrm>
          <a:prstGeom prst="ellipse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46304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2C3E50"/>
                </a:solidFill>
                <a:latin typeface="Arial"/>
              </a:defRPr>
            </a:pPr>
            <a:r>
              <a:t>项目背景与数据集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7F8C8D"/>
                </a:solidFill>
                <a:latin typeface="Arial"/>
              </a:defRPr>
            </a:pPr>
            <a:r>
              <a:t>分析动机、数据来源与规模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2194560"/>
            <a:ext cx="411480" cy="411480"/>
          </a:xfrm>
          <a:prstGeom prst="ellipse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14884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2C3E50"/>
                </a:solidFill>
                <a:latin typeface="Arial"/>
              </a:defRPr>
            </a:pPr>
            <a:r>
              <a:t>分析框架与方法论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6888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7F8C8D"/>
                </a:solidFill>
                <a:latin typeface="Arial"/>
              </a:defRPr>
            </a:pPr>
            <a:r>
              <a:t>四维度框架 + 方法选择优势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2880360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3464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2C3E50"/>
                </a:solidFill>
                <a:latin typeface="Arial"/>
              </a:defRPr>
            </a:pPr>
            <a:r>
              <a:t>维度一：综合评价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15468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7F8C8D"/>
                </a:solidFill>
                <a:latin typeface="Arial"/>
              </a:defRPr>
            </a:pPr>
            <a:r>
              <a:t>价格/评分/销量分布、相关性矩阵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566160"/>
            <a:ext cx="411480" cy="411480"/>
          </a:xfrm>
          <a:prstGeom prst="ellipse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52044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2C3E50"/>
                </a:solidFill>
                <a:latin typeface="Arial"/>
              </a:defRPr>
            </a:pPr>
            <a:r>
              <a:t>维度二：定价策略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84048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7F8C8D"/>
                </a:solidFill>
                <a:latin typeface="Arial"/>
              </a:defRPr>
            </a:pPr>
            <a:r>
              <a:t>价格区间对比、免费vs付费</a:t>
            </a:r>
          </a:p>
        </p:txBody>
      </p:sp>
      <p:sp>
        <p:nvSpPr>
          <p:cNvPr id="20" name="Oval 19"/>
          <p:cNvSpPr/>
          <p:nvPr/>
        </p:nvSpPr>
        <p:spPr>
          <a:xfrm>
            <a:off x="1371600" y="4251960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20624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2C3E50"/>
                </a:solidFill>
                <a:latin typeface="Arial"/>
              </a:defRPr>
            </a:pPr>
            <a:r>
              <a:t>维度三：类型趋势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52628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7F8C8D"/>
                </a:solidFill>
                <a:latin typeface="Arial"/>
              </a:defRPr>
            </a:pPr>
            <a:r>
              <a:t>市场份额、评分对比、年度趋势</a:t>
            </a:r>
          </a:p>
        </p:txBody>
      </p:sp>
      <p:sp>
        <p:nvSpPr>
          <p:cNvPr id="23" name="Oval 22"/>
          <p:cNvSpPr/>
          <p:nvPr/>
        </p:nvSpPr>
        <p:spPr>
          <a:xfrm>
            <a:off x="1371600" y="4937760"/>
            <a:ext cx="411480" cy="411480"/>
          </a:xfrm>
          <a:prstGeom prst="ellipse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89204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2C3E50"/>
                </a:solidFill>
                <a:latin typeface="Arial"/>
              </a:defRPr>
            </a:pPr>
            <a:r>
              <a:t>维度四：玩家评价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21208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7F8C8D"/>
                </a:solidFill>
                <a:latin typeface="Arial"/>
              </a:defRPr>
            </a:pPr>
            <a:r>
              <a:t>影响因素探索、Metacritic对比</a:t>
            </a:r>
          </a:p>
        </p:txBody>
      </p:sp>
      <p:sp>
        <p:nvSpPr>
          <p:cNvPr id="26" name="Oval 25"/>
          <p:cNvSpPr/>
          <p:nvPr/>
        </p:nvSpPr>
        <p:spPr>
          <a:xfrm>
            <a:off x="1371600" y="5623560"/>
            <a:ext cx="411480" cy="4114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57784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2C3E50"/>
                </a:solidFill>
                <a:latin typeface="Arial"/>
              </a:defRPr>
            </a:pPr>
            <a:r>
              <a:t>结论与建议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89788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7F8C8D"/>
                </a:solidFill>
                <a:latin typeface="Arial"/>
              </a:defRPr>
            </a:pPr>
            <a:r>
              <a:t>核心发现、对开发者的启示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项目背景与数据集概述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0">
                <a:solidFill>
                  <a:srgbClr val="BDC3C7"/>
                </a:solidFill>
                <a:latin typeface="Arial"/>
              </a:defRPr>
            </a:pPr>
            <a:r>
              <a:t>BACKGROUND &amp;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D2B4E"/>
                </a:solidFill>
                <a:latin typeface="Arial"/>
              </a:defRPr>
            </a:pPr>
            <a:r>
              <a:t>为什么分析 Steam？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C3E50"/>
                </a:solidFill>
                <a:latin typeface="Arial"/>
              </a:defRPr>
            </a:pPr>
            <a:r>
              <a:t>Steam 是全球最大 PC 游戏平台</a:t>
            </a: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月活跃用户超过 1.3 亿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平台拥有 97,000+ 款游戏和应用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支持 28 种语言、全球 60+ 支付方式</a:t>
            </a: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海量公开数据为学术分析提供素材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游戏产业数据驱动决策的典型场景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分析结果对开发者有直接商业价值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371600"/>
            <a:ext cx="2377440" cy="10058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1371600"/>
            <a:ext cx="2377440" cy="54864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60"/>
              </a:spcAft>
              <a:defRPr sz="2800" b="1">
                <a:solidFill>
                  <a:srgbClr val="0D2B4E"/>
                </a:solidFill>
                <a:latin typeface="Arial"/>
              </a:defRPr>
            </a:pPr>
            <a:r>
              <a:t>97,428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19"/>
              </a:spcAft>
              <a:defRPr sz="1100" b="0">
                <a:solidFill>
                  <a:srgbClr val="7F8C8D"/>
                </a:solidFill>
                <a:latin typeface="Arial"/>
              </a:defRPr>
            </a:pPr>
            <a:r>
              <a:t>游戏总数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371600"/>
            <a:ext cx="2377440" cy="10058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35440" y="1371600"/>
            <a:ext cx="2377440" cy="54864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60"/>
              </a:spcAft>
              <a:defRPr sz="2800" b="1">
                <a:solidFill>
                  <a:srgbClr val="1A569A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19"/>
              </a:spcAft>
              <a:defRPr sz="1100" b="0">
                <a:solidFill>
                  <a:srgbClr val="7F8C8D"/>
                </a:solidFill>
                <a:latin typeface="Arial"/>
              </a:defRPr>
            </a:pPr>
            <a:r>
              <a:t>数据字段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560320"/>
            <a:ext cx="2377440" cy="10058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2560320"/>
            <a:ext cx="237744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60"/>
              </a:spcAft>
              <a:defRPr sz="2800" b="1">
                <a:solidFill>
                  <a:srgbClr val="27AE60"/>
                </a:solidFill>
                <a:latin typeface="Arial"/>
              </a:defRPr>
            </a:pPr>
            <a:r>
              <a:t>79.8%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19"/>
              </a:spcAft>
              <a:defRPr sz="1100" b="0">
                <a:solidFill>
                  <a:srgbClr val="7F8C8D"/>
                </a:solidFill>
                <a:latin typeface="Arial"/>
              </a:defRPr>
            </a:pPr>
            <a:r>
              <a:t>付费游戏占比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560320"/>
            <a:ext cx="2377440" cy="100584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2560320"/>
            <a:ext cx="237744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60"/>
              </a:spcAft>
              <a:defRPr sz="2800" b="1">
                <a:solidFill>
                  <a:srgbClr val="2E86C1"/>
                </a:solidFill>
                <a:latin typeface="Arial"/>
              </a:defRPr>
            </a:pPr>
            <a:r>
              <a:t>2006-2025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19"/>
              </a:spcAft>
              <a:defRPr sz="1100" b="0">
                <a:solidFill>
                  <a:srgbClr val="7F8C8D"/>
                </a:solidFill>
                <a:latin typeface="Arial"/>
              </a:defRPr>
            </a:pPr>
            <a:r>
              <a:t>时间跨度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1">
                <a:solidFill>
                  <a:srgbClr val="0D2B4E"/>
                </a:solidFill>
                <a:latin typeface="Arial"/>
              </a:defRPr>
            </a:pPr>
            <a:r>
              <a:t>数据来源：Kaggle - Steam Video Games 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关键字段：价格、估计拥有者、好评/差评数、Metacritic评分、类型标签、发行日期、成就数、DLC数、支持平台等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数据清洗：解析拥有者区间为中位数值、提取发行年份、计算好评率、展开多类型标签、构建价格/拥有者分类变量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分析框架与方法论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0">
                <a:solidFill>
                  <a:srgbClr val="BDC3C7"/>
                </a:solidFill>
                <a:latin typeface="Arial"/>
              </a:defRPr>
            </a:pPr>
            <a:r>
              <a:t>ANALYTICAL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560320" cy="32004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560320" cy="54864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63040" y="1828800"/>
            <a:ext cx="731520" cy="731520"/>
          </a:xfrm>
          <a:prstGeom prst="ellipse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800" b="1">
                <a:solidFill>
                  <a:srgbClr val="0D2B4E"/>
                </a:solidFill>
                <a:latin typeface="Arial"/>
              </a:defRPr>
            </a:pPr>
            <a:r>
              <a:t>综合评价分析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83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39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价格分布 · 好评率分布</a:t>
            </a:r>
            <a:br/>
            <a:r>
              <a:t>拥有者分布 · 发行趋势</a:t>
            </a:r>
            <a:br/>
            <a:r>
              <a:t>相关性矩阵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560320" cy="32004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463040"/>
            <a:ext cx="2560320" cy="54864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97680" y="1828800"/>
            <a:ext cx="731520" cy="731520"/>
          </a:xfrm>
          <a:prstGeom prst="ellipse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800" b="1">
                <a:solidFill>
                  <a:srgbClr val="1A569A"/>
                </a:solidFill>
                <a:latin typeface="Arial"/>
              </a:defRPr>
            </a:pPr>
            <a:r>
              <a:t>游戏定价策略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383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39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价格区间分布</a:t>
            </a:r>
            <a:br/>
            <a:r>
              <a:t>各区间好评率对比</a:t>
            </a:r>
            <a:br/>
            <a:r>
              <a:t>免费 vs 付费深度对比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2560320" cy="32004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463040"/>
            <a:ext cx="256032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32320" y="1828800"/>
            <a:ext cx="731520" cy="7315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800" b="1">
                <a:solidFill>
                  <a:srgbClr val="2E86C1"/>
                </a:solidFill>
                <a:latin typeface="Arial"/>
              </a:defRPr>
            </a:pPr>
            <a:r>
              <a:t>游戏类型趋势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383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39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类型市场份额</a:t>
            </a:r>
            <a:br/>
            <a:r>
              <a:t>类型好评率对比</a:t>
            </a:r>
            <a:br/>
            <a:r>
              <a:t>年度发行趋势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463040"/>
            <a:ext cx="2560320" cy="32004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1463040"/>
            <a:ext cx="256032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66960" y="1828800"/>
            <a:ext cx="731520" cy="7315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800" b="1">
                <a:solidFill>
                  <a:srgbClr val="E67E22"/>
                </a:solidFill>
                <a:latin typeface="Arial"/>
              </a:defRPr>
            </a:pPr>
            <a:r>
              <a:t>玩家评价分析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3832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39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评价数 vs 好评率</a:t>
            </a:r>
            <a:br/>
            <a:r>
              <a:t>Metacritic 对比验证</a:t>
            </a:r>
            <a:br/>
            <a:r>
              <a:t>影响因素分组探究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1">
                <a:solidFill>
                  <a:srgbClr val="0D2B4E"/>
                </a:solidFill>
                <a:latin typeface="Arial"/>
              </a:defRPr>
            </a:pPr>
            <a:r>
              <a:t>分析方法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394960"/>
            <a:ext cx="1920240" cy="457200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描述性统计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5394960"/>
            <a:ext cx="1920240" cy="457200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Pearson相关性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5394960"/>
            <a:ext cx="1920240" cy="457200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分组对比分析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5394960"/>
            <a:ext cx="1920240" cy="457200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时间序列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5394960"/>
            <a:ext cx="1920240" cy="457200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多维可视化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7F8C8D"/>
                </a:solidFill>
                <a:latin typeface="Arial"/>
              </a:defRPr>
            </a:pPr>
            <a:r>
              <a:t>▸ 多方法协同：描述统计提供概览 → 相关性发现关联 → 分组对比揭示结构 → 可视化验证假设 → 时间序列展示动态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分析方法选择与优势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0">
                <a:solidFill>
                  <a:srgbClr val="BDC3C7"/>
                </a:solidFill>
                <a:latin typeface="Arial"/>
              </a:defRPr>
            </a:pPr>
            <a:r>
              <a:t>WHY THESE METHODS?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4572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3566160" cy="54864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1">
                <a:solidFill>
                  <a:srgbClr val="0D2B4E"/>
                </a:solidFill>
                <a:latin typeface="Arial"/>
              </a:defRPr>
            </a:pPr>
            <a:r>
              <a:t>中位数 vs 均值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✓  游戏市场呈极端长尾分布，少数爆款严重拉高均值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✓  中位数对异常值鲁棒，反映"典型游戏"真实情况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✓  例：付费游戏中位价 $5.09，均价却被拉至 $9.83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✓  两者对比本身就传达了分布偏态程度的信息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566160" cy="4572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566160" cy="54864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0" y="1645920"/>
            <a:ext cx="457200" cy="457200"/>
          </a:xfrm>
          <a:prstGeom prst="ellipse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1">
                <a:solidFill>
                  <a:srgbClr val="1A569A"/>
                </a:solidFill>
                <a:latin typeface="Arial"/>
              </a:defRPr>
            </a:pPr>
            <a:r>
              <a:t>Pearson vs Spearman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860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✓  大样本（数万条）下 Pearson 对非正态分布鲁棒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✓  Pearson 保留原始尺度信息，直观解释"量-效关系"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✓  Spearman 仅依赖排序，丢失数值大小的信息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✓  实际验证：两项系数在本数据集高度一致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566160" cy="4572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35661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0" y="164592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1">
                <a:solidFill>
                  <a:srgbClr val="2E86C1"/>
                </a:solidFill>
                <a:latin typeface="Arial"/>
              </a:defRPr>
            </a:pPr>
            <a:r>
              <a:t>分组对比 vs 回归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2860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✓  不受函数形式假设约束（无需预设线性/多项式）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✓  能捕捉非单调关系（如价格-好评率"倒U型"）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✓  分组统计量有直观业务含义，便于沟通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✓  回归分析可作为后续深化量化效应大小的方向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1">
                <a:solidFill>
                  <a:srgbClr val="E67E22"/>
                </a:solidFill>
                <a:latin typeface="Arial"/>
              </a:defRPr>
            </a:pPr>
            <a:r>
              <a:t>核心原则：针对数据特征选择方法，而非套用"万能公式" — 偏态分布用中位数、非单调关系用分组对比、多维模式用可视化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可视化策略与多方法协同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0">
                <a:solidFill>
                  <a:srgbClr val="BDC3C7"/>
                </a:solidFill>
                <a:latin typeface="Arial"/>
              </a:defRPr>
            </a:pPr>
            <a:r>
              <a:t>VISUALIZATION &amp; SYNERGY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D2B4E"/>
                </a:solidFill>
                <a:latin typeface="Arial"/>
              </a:defRPr>
            </a:pPr>
            <a:r>
              <a:t>可视化策略：多维优于单一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569A"/>
                </a:solidFill>
                <a:latin typeface="Arial"/>
              </a:defRPr>
            </a:pPr>
            <a:r>
              <a:t>2×2 子图联动布局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同一视野呈现四个互补视角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子图空间邻近降低认知负荷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直方图+散点图+箱线图+折线图组合</a:t>
            </a:r>
          </a:p>
          <a:p>
            <a:pPr>
              <a:spcAft>
                <a:spcPts val="400"/>
              </a:spcAft>
              <a:defRPr sz="8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1A569A"/>
                </a:solidFill>
                <a:latin typeface="Arial"/>
              </a:defRPr>
            </a:pPr>
            <a:r>
              <a:t>颜色编码第三变量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二维平面上呈现三维信息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例：价格-拥有者散点以颜色表好评率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快速识别"高价格低销量高好评"群体</a:t>
            </a:r>
          </a:p>
          <a:p>
            <a:pPr>
              <a:spcAft>
                <a:spcPts val="400"/>
              </a:spcAft>
              <a:defRPr sz="8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1A569A"/>
                </a:solidFill>
                <a:latin typeface="Arial"/>
              </a:defRPr>
            </a:pPr>
            <a:r>
              <a:t>时间序列 vs 截面数据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揭示增长拐点和增速差异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发现市场饱和信号（2023年后放缓）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识别外部事件冲击（2020疫情效应）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D2B4E"/>
                </a:solidFill>
                <a:latin typeface="Arial"/>
              </a:defRPr>
            </a:pPr>
            <a:r>
              <a:t>多方法协同：递进验证体系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2514600"/>
            <a:ext cx="36576" cy="2743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2011680"/>
            <a:ext cx="4754880" cy="5029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① 描述统计  提供宏观概览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3291840"/>
            <a:ext cx="36576" cy="2743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2788920"/>
            <a:ext cx="4754880" cy="502920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相关分析  发现潜在关联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4069080"/>
            <a:ext cx="36576" cy="2743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3566160"/>
            <a:ext cx="475488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③ 分组对比  揭示结构差异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4846320"/>
            <a:ext cx="36576" cy="2743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4343400"/>
            <a:ext cx="475488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④ 可视化  呈现模式、验证假设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5120640"/>
            <a:ext cx="475488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⑤ 时序分析  展示动态演变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852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67E22"/>
                </a:solidFill>
                <a:latin typeface="Arial"/>
              </a:defRPr>
            </a:pPr>
            <a:r>
              <a:t>▸ 优势：多角度交叉验证，降低"数据挖掘偏差"风险</a:t>
            </a:r>
          </a:p>
          <a:p>
            <a:pPr>
              <a:spcAft>
                <a:spcPts val="400"/>
              </a:spcAft>
              <a:defRPr sz="1200" b="0">
                <a:solidFill>
                  <a:srgbClr val="7F8C8D"/>
                </a:solidFill>
                <a:latin typeface="Arial"/>
              </a:defRPr>
            </a:pPr>
            <a:r>
              <a:t>▸ 对比：单一方法（如仅回归）可能遗漏非单调关系或隐藏结构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维度一：综合评价分析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0">
                <a:solidFill>
                  <a:srgbClr val="BDC3C7"/>
                </a:solidFill>
                <a:latin typeface="Arial"/>
              </a:defRPr>
            </a:pPr>
            <a:r>
              <a:t>DIMENSION 1: COMPREHENSIVE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7</a:t>
            </a:r>
          </a:p>
        </p:txBody>
      </p:sp>
      <p:pic>
        <p:nvPicPr>
          <p:cNvPr id="8" name="Picture 7" descr="01_综合概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6217920" cy="44038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D2B4E"/>
                </a:solidFill>
                <a:latin typeface="Arial"/>
              </a:defRPr>
            </a:pPr>
            <a:r>
              <a:t>核心发现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A569A"/>
                </a:solidFill>
                <a:latin typeface="Arial"/>
              </a:defRPr>
            </a:pPr>
            <a:r>
              <a:t>价格分布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中位价 $5.09，高度右偏。60%+ 游戏定价$10以下，AAA级游戏极为稀缺</a:t>
            </a: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A569A"/>
                </a:solidFill>
                <a:latin typeface="Arial"/>
              </a:defRPr>
            </a:pPr>
            <a:r>
              <a:t>好评率分布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中位好评率 81.3%，62.2% 游戏集中在70%-90%。极好评（95%+）极少</a:t>
            </a: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A569A"/>
                </a:solidFill>
                <a:latin typeface="Arial"/>
              </a:defRPr>
            </a:pPr>
            <a:r>
              <a:t>拥有者长尾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中位拥有者仅 10,000 人。极少数爆款占据大量用户，市场高度集中</a:t>
            </a: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A569A"/>
                </a:solidFill>
                <a:latin typeface="Arial"/>
              </a:defRPr>
            </a:pPr>
            <a:r>
              <a:t>发行趋势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2023年达峰值 15,542 款。2015年后爆发式增长，与 Steam Direct 降低门槛直接相关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维度一：关键指标相关性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0">
                <a:solidFill>
                  <a:srgbClr val="BDC3C7"/>
                </a:solidFill>
                <a:latin typeface="Arial"/>
              </a:defRPr>
            </a:pPr>
            <a:r>
              <a:t>CORRELATION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8</a:t>
            </a:r>
          </a:p>
        </p:txBody>
      </p:sp>
      <p:pic>
        <p:nvPicPr>
          <p:cNvPr id="8" name="Picture 7" descr="01_相关性热力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943600" cy="53200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D2B4E"/>
                </a:solidFill>
                <a:latin typeface="Arial"/>
              </a:defRPr>
            </a:pPr>
            <a:r>
              <a:t>关键相关系数解读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C0392B"/>
                </a:solidFill>
                <a:latin typeface="Arial"/>
              </a:defRPr>
            </a:pPr>
            <a:r>
              <a:t>价格 vs 好评率: r = 0.046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几乎无关 — "贵的不一定好"，挑战"一分钱一分货"的直觉</a:t>
            </a: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27AE60"/>
                </a:solidFill>
                <a:latin typeface="Arial"/>
              </a:defRPr>
            </a:pPr>
            <a:r>
              <a:t>拥有者 vs 峰值在线: r = 0.628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中等正相关 — 热门游戏拥有更高活跃度，但存在"买而不用"</a:t>
            </a: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A569A"/>
                </a:solidFill>
                <a:latin typeface="Arial"/>
              </a:defRPr>
            </a:pPr>
            <a:r>
              <a:t>Metacritic vs Steam好评率: r = 0.475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中等正相关 — 专业媒体与玩家审美大体一致但不完全重合</a:t>
            </a: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E67E22"/>
                </a:solidFill>
                <a:latin typeface="Arial"/>
              </a:defRPr>
            </a:pPr>
            <a:r>
              <a:t>评价总数 vs 好评率: r = 0.019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几乎无关 — 受欢迎不等于高评价，评价多寡不决定评分高低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维度二：游戏定价策略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0">
                <a:solidFill>
                  <a:srgbClr val="BDC3C7"/>
                </a:solidFill>
                <a:latin typeface="Arial"/>
              </a:defRPr>
            </a:pPr>
            <a:r>
              <a:t>DIMENSION 2: PRICING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9</a:t>
            </a:r>
          </a:p>
        </p:txBody>
      </p:sp>
      <p:pic>
        <p:nvPicPr>
          <p:cNvPr id="8" name="Picture 7" descr="02_定价策略分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943600" cy="42124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D2B4E"/>
                </a:solidFill>
                <a:latin typeface="Arial"/>
              </a:defRPr>
            </a:pPr>
            <a:r>
              <a:t>核心发现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7AE60"/>
                </a:solidFill>
                <a:latin typeface="Arial"/>
              </a:defRPr>
            </a:pPr>
            <a:r>
              <a:t>"$5-$15"是"最佳甜蜜点"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该区间游戏中位好评率最高（83.2%），性价比预期管理最优</a:t>
            </a: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E67E22"/>
                </a:solidFill>
                <a:latin typeface="Arial"/>
              </a:defRPr>
            </a:pPr>
            <a:r>
              <a:t>免费游戏：量大但口碑弱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中位拥有者 75,000（付费的2倍+），但好评率仅 76.3%</a:t>
            </a: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A569A"/>
                </a:solidFill>
                <a:latin typeface="Arial"/>
              </a:defRPr>
            </a:pPr>
            <a:r>
              <a:t>付费游戏：精准但面窄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好评率 82.1% 显著优于免费，但中位拥有者仅 35,000</a:t>
            </a: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C0392B"/>
                </a:solidFill>
                <a:latin typeface="Arial"/>
              </a:defRPr>
            </a:pPr>
            <a:r>
              <a:t>高价游戏面临"期待落差"风险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高价区间 ($60+) 好评率仅 80.0%，玩家期望值高导致评价更严苛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维度三：游戏类型趋势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0">
                <a:solidFill>
                  <a:srgbClr val="BDC3C7"/>
                </a:solidFill>
                <a:latin typeface="Arial"/>
              </a:defRPr>
            </a:pPr>
            <a:r>
              <a:t>DIMENSION 3: GENRE TRENDS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8" name="Picture 7" descr="03_类型分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6217920" cy="44068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D2B4E"/>
                </a:solidFill>
                <a:latin typeface="Arial"/>
              </a:defRPr>
            </a:pPr>
            <a:r>
              <a:t>核心发现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D2B4E"/>
                </a:solidFill>
                <a:latin typeface="Arial"/>
              </a:defRPr>
            </a:pPr>
            <a:r>
              <a:t>Indie 绝对主导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64,499 款独立游戏，占所有类型条目首位。Steam 是独立开发者首选平台</a:t>
            </a: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27AE60"/>
                </a:solidFill>
                <a:latin typeface="Arial"/>
              </a:defRPr>
            </a:pPr>
            <a:r>
              <a:t>Casual 好评率最高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休闲类以 83.8% 中位好评率领跑 Top 15。机制简单成熟、玩家预期合理</a:t>
            </a: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C0392B"/>
                </a:solidFill>
                <a:latin typeface="Arial"/>
              </a:defRPr>
            </a:pPr>
            <a:r>
              <a:t>Free to Play 评分最低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仅 75.0% — 免费玩家基数大但投入度低、容忍度低</a:t>
            </a: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A569A"/>
                </a:solidFill>
                <a:latin typeface="Arial"/>
              </a:defRPr>
            </a:pPr>
            <a:r>
              <a:t>类型格局：三巨头 + 长尾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Indie + Action + Adventure 覆盖 14万+ 条目，其余类型构成丰富长尾</a:t>
            </a: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7F8C8D"/>
                </a:solidFill>
                <a:latin typeface="Arial"/>
              </a:defRPr>
            </a:pPr>
            <a:r>
              <a:t>Design &amp; Illustration 定价最高 ($25.72)，工具类软件价格普遍偏高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维度四：玩家评价分析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0">
                <a:solidFill>
                  <a:srgbClr val="BDC3C7"/>
                </a:solidFill>
                <a:latin typeface="Arial"/>
              </a:defRPr>
            </a:pPr>
            <a:r>
              <a:t>DIMENSION 4: PLAYER REVIEWS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11</a:t>
            </a:r>
          </a:p>
        </p:txBody>
      </p:sp>
      <p:pic>
        <p:nvPicPr>
          <p:cNvPr id="8" name="Picture 7" descr="04_评价分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6217920" cy="44042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D2B4E"/>
                </a:solidFill>
                <a:latin typeface="Arial"/>
              </a:defRPr>
            </a:pPr>
            <a:r>
              <a:t>核心发现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E67E22"/>
                </a:solidFill>
                <a:latin typeface="Arial"/>
              </a:defRPr>
            </a:pPr>
            <a:r>
              <a:t>评价数量 ≠ 评价质量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r=0.019，两者几乎无关。高评价量游戏的好评率方差极大（20%-100%）</a:t>
            </a: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1A569A"/>
                </a:solidFill>
                <a:latin typeface="Arial"/>
              </a:defRPr>
            </a:pPr>
            <a:r>
              <a:t>Metacritic 与 Steam 有中等一致性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r=0.475 — 专业媒体与玩家存在审美一致，但远非完全重合</a:t>
            </a: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27AE60"/>
                </a:solidFill>
                <a:latin typeface="Arial"/>
              </a:defRPr>
            </a:pPr>
            <a:r>
              <a:t>多平台支持提升好评率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支持3平台 &gt; 2平台 &gt; 1平台（83.2% &gt; 82.1% &gt; 80.5%）</a:t>
            </a:r>
          </a:p>
          <a:p>
            <a:pPr>
              <a:spcAft>
                <a:spcPts val="400"/>
              </a:spcAft>
              <a:defRPr sz="6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27AE60"/>
                </a:solidFill>
                <a:latin typeface="Arial"/>
              </a:defRPr>
            </a:pPr>
            <a:r>
              <a:t>DLC 与成就系统的正向效应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有DLC游戏好评率高2.3%，丰富成就系统 (+100) 好评率高3.3%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影响好评率的关键因素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0">
                <a:solidFill>
                  <a:srgbClr val="BDC3C7"/>
                </a:solidFill>
                <a:latin typeface="Arial"/>
              </a:defRPr>
            </a:pPr>
            <a:r>
              <a:t>FACTORS AFFECTING REVIEW SCORES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800" b="1">
                <a:solidFill>
                  <a:srgbClr val="0D2B4E"/>
                </a:solidFill>
                <a:latin typeface="Arial"/>
              </a:defRPr>
            </a:pPr>
            <a:r>
              <a:t>平台支持数量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011680"/>
            <a:ext cx="3200400" cy="8686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1">
                <a:solidFill>
                  <a:srgbClr val="2C3E50"/>
                </a:solidFill>
                <a:latin typeface="Arial"/>
              </a:defRPr>
            </a:pPr>
            <a:r>
              <a:t>1个平台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2400" b="1">
                <a:solidFill>
                  <a:srgbClr val="1A569A"/>
                </a:solidFill>
                <a:latin typeface="Arial"/>
              </a:defRPr>
            </a:pPr>
            <a:r>
              <a:t>80.5%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200400"/>
            <a:ext cx="3200400" cy="8686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1">
                <a:solidFill>
                  <a:srgbClr val="2C3E50"/>
                </a:solidFill>
                <a:latin typeface="Arial"/>
              </a:defRPr>
            </a:pPr>
            <a:r>
              <a:t>2个平台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2400" b="1">
                <a:solidFill>
                  <a:srgbClr val="2E86C1"/>
                </a:solidFill>
                <a:latin typeface="Arial"/>
              </a:defRPr>
            </a:pPr>
            <a:r>
              <a:t>82.1%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389120"/>
            <a:ext cx="3200400" cy="8686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1">
                <a:solidFill>
                  <a:srgbClr val="2C3E50"/>
                </a:solidFill>
                <a:latin typeface="Arial"/>
              </a:defRPr>
            </a:pPr>
            <a:r>
              <a:t>3个平台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2400" b="1">
                <a:solidFill>
                  <a:srgbClr val="27AE60"/>
                </a:solidFill>
                <a:latin typeface="Arial"/>
              </a:defRPr>
            </a:pPr>
            <a:r>
              <a:t>83.2%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9"/>
              </a:spcAft>
              <a:defRPr sz="1300" b="1">
                <a:solidFill>
                  <a:srgbClr val="27AE60"/>
                </a:solidFill>
                <a:latin typeface="Arial"/>
              </a:defRPr>
            </a:pPr>
            <a:r>
              <a:t>↑ 提升 2.7 个百分点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800" b="1">
                <a:solidFill>
                  <a:srgbClr val="0D2B4E"/>
                </a:solidFill>
                <a:latin typeface="Arial"/>
              </a:defRPr>
            </a:pPr>
            <a:r>
              <a:t>DLC 情况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2011680"/>
            <a:ext cx="3200400" cy="8686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1">
                <a:solidFill>
                  <a:srgbClr val="2C3E50"/>
                </a:solidFill>
                <a:latin typeface="Arial"/>
              </a:defRPr>
            </a:pPr>
            <a:r>
              <a:t>无 DLC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2400" b="1">
                <a:solidFill>
                  <a:srgbClr val="1A569A"/>
                </a:solidFill>
                <a:latin typeface="Arial"/>
              </a:defRPr>
            </a:pPr>
            <a:r>
              <a:t>80.5%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200400"/>
            <a:ext cx="3200400" cy="8686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1">
                <a:solidFill>
                  <a:srgbClr val="2C3E50"/>
                </a:solidFill>
                <a:latin typeface="Arial"/>
              </a:defRPr>
            </a:pPr>
            <a:r>
              <a:t>有 DLC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2400" b="1">
                <a:solidFill>
                  <a:srgbClr val="27AE60"/>
                </a:solidFill>
                <a:latin typeface="Arial"/>
              </a:defRPr>
            </a:pPr>
            <a:r>
              <a:t>82.8%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9"/>
              </a:spcAft>
              <a:defRPr sz="1300" b="1">
                <a:solidFill>
                  <a:srgbClr val="27AE60"/>
                </a:solidFill>
                <a:latin typeface="Arial"/>
              </a:defRPr>
            </a:pPr>
            <a:r>
              <a:t>↑ 提升 2.3 个百分点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800" b="1">
                <a:solidFill>
                  <a:srgbClr val="0D2B4E"/>
                </a:solidFill>
                <a:latin typeface="Arial"/>
              </a:defRPr>
            </a:pPr>
            <a:r>
              <a:t>成就系统丰富度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2011680"/>
            <a:ext cx="3200400" cy="8686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1">
                <a:solidFill>
                  <a:srgbClr val="2C3E50"/>
                </a:solidFill>
                <a:latin typeface="Arial"/>
              </a:defRPr>
            </a:pPr>
            <a:r>
              <a:t>≤100 成就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2400" b="1">
                <a:solidFill>
                  <a:srgbClr val="1A569A"/>
                </a:solidFill>
                <a:latin typeface="Arial"/>
              </a:defRPr>
            </a:pPr>
            <a:r>
              <a:t>80.2%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3200400"/>
            <a:ext cx="3200400" cy="8686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1">
                <a:solidFill>
                  <a:srgbClr val="2C3E50"/>
                </a:solidFill>
                <a:latin typeface="Arial"/>
              </a:defRPr>
            </a:pPr>
            <a:r>
              <a:t>&gt;100 成就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2400" b="1">
                <a:solidFill>
                  <a:srgbClr val="27AE60"/>
                </a:solidFill>
                <a:latin typeface="Arial"/>
              </a:defRPr>
            </a:pPr>
            <a:r>
              <a:t>83.5%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9"/>
              </a:spcAft>
              <a:defRPr sz="1300" b="1">
                <a:solidFill>
                  <a:srgbClr val="27AE60"/>
                </a:solidFill>
                <a:latin typeface="Arial"/>
              </a:defRPr>
            </a:pPr>
            <a:r>
              <a:t>↑ 提升 3.3 个百分点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669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0">
                <a:solidFill>
                  <a:srgbClr val="E67E22"/>
                </a:solidFill>
                <a:latin typeface="Arial"/>
              </a:defRPr>
            </a:pPr>
            <a:r>
              <a:t>解读：持续运营投入（多平台移植、DLC 开发、成就系统设计）能够显著提升玩家满意度。这不仅是品质信号，也筛选出更忠实的用户群体，形成良性循环。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高评价 vs 低评价游戏对比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0">
                <a:solidFill>
                  <a:srgbClr val="BDC3C7"/>
                </a:solidFill>
                <a:latin typeface="Arial"/>
              </a:defRPr>
            </a:pPr>
            <a:r>
              <a:t>HIGH-RATED vs LOW-RATED GAMES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27AE60"/>
                </a:solidFill>
                <a:latin typeface="Arial"/>
              </a:defRPr>
            </a:pPr>
            <a:r>
              <a:t>高评价游戏 (≥90%)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C0392B"/>
                </a:solidFill>
                <a:latin typeface="Arial"/>
              </a:defRPr>
            </a:pPr>
            <a:r>
              <a:t>低评价游戏 (&lt;60%)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5029200" cy="32004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031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27AE60"/>
                </a:solidFill>
                <a:latin typeface="Arial"/>
              </a:defRPr>
            </a:pPr>
            <a:r>
              <a:t>6,246 款</a:t>
            </a:r>
          </a:p>
          <a:p>
            <a:pPr>
              <a:spcAft>
                <a:spcPts val="400"/>
              </a:spcAft>
              <a:defRPr sz="1400" b="0">
                <a:solidFill>
                  <a:srgbClr val="2C3E50"/>
                </a:solidFill>
                <a:latin typeface="Arial"/>
              </a:defRPr>
            </a:pPr>
            <a:r>
              <a:t>占评价样本的 26.1%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2C3E50"/>
                </a:solidFill>
                <a:latin typeface="Arial"/>
              </a:defRPr>
            </a:pPr>
            <a:r>
              <a:t>✓ 平均价格较低</a:t>
            </a:r>
          </a:p>
          <a:p>
            <a:pPr>
              <a:spcAft>
                <a:spcPts val="400"/>
              </a:spcAft>
              <a:defRPr sz="1400" b="0">
                <a:solidFill>
                  <a:srgbClr val="2C3E50"/>
                </a:solidFill>
                <a:latin typeface="Arial"/>
              </a:defRPr>
            </a:pPr>
            <a:r>
              <a:t>✓ 中位拥有者较广泛</a:t>
            </a:r>
          </a:p>
          <a:p>
            <a:pPr>
              <a:spcAft>
                <a:spcPts val="400"/>
              </a:spcAft>
              <a:defRPr sz="1400" b="0">
                <a:solidFill>
                  <a:srgbClr val="2C3E50"/>
                </a:solidFill>
                <a:latin typeface="Arial"/>
              </a:defRPr>
            </a:pPr>
            <a:r>
              <a:t>✓ 常见类型：Casual、Indie</a:t>
            </a:r>
          </a:p>
          <a:p>
            <a:pPr>
              <a:spcAft>
                <a:spcPts val="400"/>
              </a:spcAft>
              <a:defRPr sz="1400" b="0">
                <a:solidFill>
                  <a:srgbClr val="2C3E50"/>
                </a:solidFill>
                <a:latin typeface="Arial"/>
              </a:defRPr>
            </a:pPr>
            <a:r>
              <a:t>✓ 品质稳定，预期管理良好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920240"/>
            <a:ext cx="5029200" cy="32004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1031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C0392B"/>
                </a:solidFill>
                <a:latin typeface="Arial"/>
              </a:defRPr>
            </a:pPr>
            <a:r>
              <a:t>3,518 款</a:t>
            </a:r>
          </a:p>
          <a:p>
            <a:pPr>
              <a:spcAft>
                <a:spcPts val="400"/>
              </a:spcAft>
              <a:defRPr sz="1400" b="0">
                <a:solidFill>
                  <a:srgbClr val="2C3E50"/>
                </a:solidFill>
                <a:latin typeface="Arial"/>
              </a:defRPr>
            </a:pPr>
            <a:r>
              <a:t>占评价样本的 14.7%</a:t>
            </a:r>
          </a:p>
          <a:p>
            <a:pPr>
              <a:spcAft>
                <a:spcPts val="400"/>
              </a:spcAft>
              <a:defRPr sz="10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2C3E50"/>
                </a:solidFill>
                <a:latin typeface="Arial"/>
              </a:defRPr>
            </a:pPr>
            <a:r>
              <a:t>✗ 平均价格较高</a:t>
            </a:r>
          </a:p>
          <a:p>
            <a:pPr>
              <a:spcAft>
                <a:spcPts val="400"/>
              </a:spcAft>
              <a:defRPr sz="1400" b="0">
                <a:solidFill>
                  <a:srgbClr val="2C3E50"/>
                </a:solidFill>
                <a:latin typeface="Arial"/>
              </a:defRPr>
            </a:pPr>
            <a:r>
              <a:t>✗ 中位拥有者较少</a:t>
            </a:r>
          </a:p>
          <a:p>
            <a:pPr>
              <a:spcAft>
                <a:spcPts val="400"/>
              </a:spcAft>
              <a:defRPr sz="1400" b="0">
                <a:solidFill>
                  <a:srgbClr val="2C3E50"/>
                </a:solidFill>
                <a:latin typeface="Arial"/>
              </a:defRPr>
            </a:pPr>
            <a:r>
              <a:t>✗ Free to Play、Early Access 比例偏高</a:t>
            </a:r>
          </a:p>
          <a:p>
            <a:pPr>
              <a:spcAft>
                <a:spcPts val="400"/>
              </a:spcAft>
              <a:defRPr sz="1400" b="0">
                <a:solidFill>
                  <a:srgbClr val="2C3E50"/>
                </a:solidFill>
                <a:latin typeface="Arial"/>
              </a:defRPr>
            </a:pPr>
            <a:r>
              <a:t>✗ 期待落差大，预期管理不足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1">
                <a:solidFill>
                  <a:srgbClr val="E67E22"/>
                </a:solidFill>
                <a:latin typeface="Arial"/>
              </a:defRPr>
            </a:pPr>
            <a:r>
              <a:t>⚠ 警示：Early Access（抢先体验）需谨慎 — 虽然能早期获取资金和反馈，但品质不达标时容易沦为低评价重灾区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核心发现总结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0">
                <a:solidFill>
                  <a:srgbClr val="BDC3C7"/>
                </a:solidFill>
                <a:latin typeface="Arial"/>
              </a:defRPr>
            </a:pPr>
            <a:r>
              <a:t>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1">
                <a:solidFill>
                  <a:srgbClr val="0D2B4E"/>
                </a:solidFill>
                <a:latin typeface="Arial"/>
              </a:defRPr>
            </a:pPr>
            <a:r>
              <a:t>市场高度长尾化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288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中位拥有者仅 10,000 人，极少数爆款占据大量用户。独立开发者需在成本控制和利基市场中找到平衡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1508760"/>
            <a:ext cx="457200" cy="457200"/>
          </a:xfrm>
          <a:prstGeom prst="ellipse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1">
                <a:solidFill>
                  <a:srgbClr val="1A569A"/>
                </a:solidFill>
                <a:latin typeface="Arial"/>
              </a:defRPr>
            </a:pPr>
            <a:r>
              <a:t>定价与质量脱钩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8288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r=0.046，价格几乎不影响评价。Steam 平台为优质低价游戏提供了公平竞争的环境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1">
                <a:solidFill>
                  <a:srgbClr val="2E86C1"/>
                </a:solidFill>
                <a:latin typeface="Arial"/>
              </a:defRPr>
            </a:pPr>
            <a:r>
              <a:t>付费体验优于免费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747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付费好评率 82.1% vs 免费 76.3%。但免费游戏用户覆盖面是付费的 2 倍以上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0" y="315468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1">
                <a:solidFill>
                  <a:srgbClr val="27AE60"/>
                </a:solidFill>
                <a:latin typeface="Arial"/>
              </a:defRPr>
            </a:pPr>
            <a:r>
              <a:t>$5-$15 是甜蜜点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4747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该区间好评率最高（83.2%），性价比预期管理最优。独立游戏定价的黄金区间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1">
                <a:solidFill>
                  <a:srgbClr val="E67E22"/>
                </a:solidFill>
                <a:latin typeface="Arial"/>
              </a:defRPr>
            </a:pPr>
            <a:r>
              <a:t>Indie 为王、Casual 为优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1206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独立游戏数量压倒性领先。休闲类好评率最高（83.8%），用户体验最佳</a:t>
            </a:r>
          </a:p>
        </p:txBody>
      </p:sp>
      <p:sp>
        <p:nvSpPr>
          <p:cNvPr id="23" name="Oval 22"/>
          <p:cNvSpPr/>
          <p:nvPr/>
        </p:nvSpPr>
        <p:spPr>
          <a:xfrm>
            <a:off x="6309360" y="4800600"/>
            <a:ext cx="457200" cy="457200"/>
          </a:xfrm>
          <a:prstGeom prst="ellipse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1">
                <a:solidFill>
                  <a:srgbClr val="0D2B4E"/>
                </a:solidFill>
                <a:latin typeface="Arial"/>
              </a:defRPr>
            </a:pPr>
            <a:r>
              <a:t>持续运营带来正反馈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51206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多平台 + DLC + 成就系统 = 更高好评率。玩家认可开发者的长期投入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方法论特色总结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0">
                <a:solidFill>
                  <a:srgbClr val="BDC3C7"/>
                </a:solidFill>
                <a:latin typeface="Arial"/>
              </a:defRPr>
            </a:pPr>
            <a:r>
              <a:t>METHODOLOGY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2651760" cy="41148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651760" cy="54864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800" b="1">
                <a:solidFill>
                  <a:srgbClr val="0D2B4E"/>
                </a:solidFill>
                <a:latin typeface="Arial"/>
              </a:defRPr>
            </a:pPr>
            <a:r>
              <a:t>数据思维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从"提问题"出发，而非从数据出发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四个分析维度基于真实市场关切设计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每个发现都能回答一个实际决策问题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51760" cy="41148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463040"/>
            <a:ext cx="2651760" cy="54864"/>
          </a:xfrm>
          <a:prstGeom prst="rect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800" b="1">
                <a:solidFill>
                  <a:srgbClr val="1A569A"/>
                </a:solidFill>
                <a:latin typeface="Arial"/>
              </a:defRPr>
            </a:pPr>
            <a:r>
              <a:t>方法适配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2860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偏态分布 → 中位数替代均值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非单调关系 → 分组对比替代单一回归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多维信息 → 颜色编码+多子图联动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2651760" cy="41148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265176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800" b="1">
                <a:solidFill>
                  <a:srgbClr val="2E86C1"/>
                </a:solidFill>
                <a:latin typeface="Arial"/>
              </a:defRPr>
            </a:pPr>
            <a:r>
              <a:t>递进验证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描述统计 → 相关分析 → 分组对比 → 可视化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多方法交叉印证，降低伪发现风险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单一方法无法捕捉的"倒U型"关系被成功揭示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63040"/>
            <a:ext cx="2651760" cy="41148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463040"/>
            <a:ext cx="265176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800" b="1">
                <a:solidFill>
                  <a:srgbClr val="E67E22"/>
                </a:solidFill>
                <a:latin typeface="Arial"/>
              </a:defRPr>
            </a:pPr>
            <a:r>
              <a:t>可操作性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2860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每个分析维度输出可执行的建议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定价"甜蜜点"可直接指导商业决策</a:t>
            </a:r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• 开发者可基于结论优化产品策略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对开发者的建议与未来展望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0">
                <a:solidFill>
                  <a:srgbClr val="BDC3C7"/>
                </a:solidFill>
                <a:latin typeface="Arial"/>
              </a:defRPr>
            </a:pPr>
            <a:r>
              <a:t>RECOMMENDATIONS &amp; OUTLOOK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D2B4E"/>
                </a:solidFill>
                <a:latin typeface="Arial"/>
              </a:defRPr>
            </a:pPr>
            <a:r>
              <a:t>对 Steam 开发者的五项建议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057400"/>
            <a:ext cx="411480" cy="411480"/>
          </a:xfrm>
          <a:prstGeom prst="ellipse">
            <a:avLst/>
          </a:prstGeom>
          <a:solidFill>
            <a:srgbClr val="1A5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116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2C3E50"/>
                </a:solidFill>
                <a:latin typeface="Arial"/>
              </a:defRPr>
            </a:pPr>
            <a:r>
              <a:t>定价策略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317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7F8C8D"/>
                </a:solidFill>
                <a:latin typeface="Arial"/>
              </a:defRPr>
            </a:pPr>
            <a:r>
              <a:t>优先考虑 $5-$15 中低价位，兼顾覆盖和口碑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146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2C3E50"/>
                </a:solidFill>
                <a:latin typeface="Arial"/>
              </a:defRPr>
            </a:pPr>
            <a:r>
              <a:t>商业选择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8346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7F8C8D"/>
                </a:solidFill>
                <a:latin typeface="Arial"/>
              </a:defRPr>
            </a:pPr>
            <a:r>
              <a:t>用户增长选免费，品牌口碑选付费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63240"/>
            <a:ext cx="411480" cy="4114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175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2C3E50"/>
                </a:solidFill>
                <a:latin typeface="Arial"/>
              </a:defRPr>
            </a:pPr>
            <a:r>
              <a:t>持续运营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3375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7F8C8D"/>
                </a:solidFill>
                <a:latin typeface="Arial"/>
              </a:defRPr>
            </a:pPr>
            <a:r>
              <a:t>开发 DLC、成就系统，支持多平台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566160"/>
            <a:ext cx="411480" cy="4114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5204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2C3E50"/>
                </a:solidFill>
                <a:latin typeface="Arial"/>
              </a:defRPr>
            </a:pPr>
            <a:r>
              <a:t>类型策略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84048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7F8C8D"/>
                </a:solidFill>
                <a:latin typeface="Arial"/>
              </a:defRPr>
            </a:pPr>
            <a:r>
              <a:t>Indie/Casual 赛道友好，但需差异化突围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06908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0233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2C3E50"/>
                </a:solidFill>
                <a:latin typeface="Arial"/>
              </a:defRPr>
            </a:pPr>
            <a:r>
              <a:t>Early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34340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7F8C8D"/>
                </a:solidFill>
                <a:latin typeface="Arial"/>
              </a:defRPr>
            </a:pPr>
            <a:r>
              <a:t>核心玩法完善后再用，避免低评价陷阱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0D2B4E"/>
                </a:solidFill>
                <a:latin typeface="Arial"/>
              </a:defRPr>
            </a:pPr>
            <a:r>
              <a:t>研究不足与未来方向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569A"/>
                </a:solidFill>
                <a:latin typeface="Arial"/>
              </a:defRPr>
            </a:pPr>
            <a:r>
              <a:t>数据层面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当前为静态快照，缺乏时间序列变化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拥有者数据为区间估算，精度有限</a:t>
            </a:r>
          </a:p>
          <a:p>
            <a:pPr>
              <a:spcAft>
                <a:spcPts val="400"/>
              </a:spcAft>
              <a:defRPr sz="8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1A569A"/>
                </a:solidFill>
                <a:latin typeface="Arial"/>
              </a:defRPr>
            </a:pPr>
            <a:r>
              <a:t>方法层面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可引入多元回归量化效应大小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NLP 分析评论文本情感更为深入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因果推断探索"价格→评价"的因果路径</a:t>
            </a:r>
          </a:p>
          <a:p>
            <a:pPr>
              <a:spcAft>
                <a:spcPts val="400"/>
              </a:spcAft>
              <a:defRPr sz="800" b="0">
                <a:solidFill>
                  <a:srgbClr val="2C3E5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1A569A"/>
                </a:solidFill>
                <a:latin typeface="Arial"/>
              </a:defRPr>
            </a:pPr>
            <a:r>
              <a:t>扩展方向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地域/文化差异对游戏偏好的影响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标签组合分析（Tags 共现网络）</a:t>
            </a:r>
          </a:p>
          <a:p>
            <a:pPr>
              <a:spcAft>
                <a:spcPts val="4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• 预测模型：什么特征造就"爆款"？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20640" y="2743200"/>
            <a:ext cx="18288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59"/>
              </a:spcAft>
              <a:defRPr sz="4800" b="1">
                <a:solidFill>
                  <a:srgbClr val="FFFFFF"/>
                </a:solidFill>
                <a:latin typeface="Arial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60"/>
              </a:spcAft>
              <a:defRPr sz="2800" b="0">
                <a:solidFill>
                  <a:srgbClr val="BDC3C7"/>
                </a:solidFill>
                <a:latin typeface="Arial"/>
              </a:defRPr>
            </a:pPr>
            <a: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80"/>
              </a:spcAft>
              <a:defRPr sz="1400" b="0">
                <a:solidFill>
                  <a:srgbClr val="7F8C8D"/>
                </a:solidFill>
                <a:latin typeface="Arial"/>
              </a:defRPr>
            </a:pPr>
            <a:r>
              <a:t>数据思维与人工智能 · 课程大作业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